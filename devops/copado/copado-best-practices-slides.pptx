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Best Practices with Copado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Field-tested guidance for Salesforce release management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960120"/>
            <a:ext cx="8686800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Principles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Hygiene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Practices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Code Quality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Compliance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Culture &amp; Collaboration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Patterns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Foundational Principles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4572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6012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these right first — everything else builds on them.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56032" y="1472184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Principle | Rule |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6032" y="190195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|---|---|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6032" y="233172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Source of truth | Git is the only source of truth — no side-door changes |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6032" y="276148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Automation | Quality gates are non-negotiable — no bypass without documented override |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6032" y="319125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Traceability | Every metadata change must link to a User Story |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6032" y="3621024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Size | One story per logical change — keep them small and atomic |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6032" y="405079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Compliance | Audit trail is automatic in Salesforce — use it |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6032" y="44805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Separation | The developer who writes code must not approve it for Production |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Key Principle: Git is the Single Source of Truth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68680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1498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metadata changes → Git → Copado pipeline → Target org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1655064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6032" y="2084832"/>
            <a:ext cx="86868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of who changed what and when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rollback at any granularity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"mystery changes" appearing in Production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Pre-requisite for any meaningful audit trail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6032" y="3730752"/>
            <a:ext cx="4572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373075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a metadata change cannot be traced to a User Story, it should not exist in your pipeline."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Key Principle: Separation of Duties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686800" cy="2066544"/>
          </a:xfrm>
          <a:prstGeom prst="rect">
            <a:avLst/>
          </a:prstGeom>
          <a:solidFill>
            <a:srgbClr val="2126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14984"/>
            <a:ext cx="841248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 writes 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Peer reviewer approves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 Manager promotes to UAT/Production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 Officer signs off (regulated environments)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319125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in Copado Approvals — not just a policy document nobody reads.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Pipeline Hygiene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4572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6012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pipelines that are safe to run every day.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56032" y="1472184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4-stage pipeline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56032" y="1901952"/>
            <a:ext cx="868680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956816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Org  →  QA Org  →  UAT Org  →  Production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" y="259689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stage quality gates (in order)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56032" y="3026664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Gate | Tool | Threshold |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6032" y="345643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|---|---|---|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6032" y="388620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1 | PMD Static Analysis | 0 Critical violations |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6032" y="43159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2 | Apex Tests | Coverage ≥ 80% |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6032" y="474573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3 | Copado Robotic Tests | All E2E suites green |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Protect Production with Layered Gates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686800" cy="1554480"/>
          </a:xfrm>
          <a:prstGeom prst="rect">
            <a:avLst/>
          </a:prstGeom>
          <a:solidFill>
            <a:srgbClr val="2126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14984"/>
            <a:ext cx="8412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1: PMD Scan     → 0 Critical violations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2: Apex Tests   → ≥ 80% coverage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3: Robotic E2E  → all suites green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4: CAB Approval → Release Manager sign-off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Override policy: document justification + senior approval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267919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gate should be bypassed — even for "urgent" fixes.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6032" y="31089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fixes still need all gates. If the gates are too slow, speed up the gates.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Never Deploy on Fridays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686800" cy="1554480"/>
          </a:xfrm>
          <a:prstGeom prst="rect">
            <a:avLst/>
          </a:prstGeom>
          <a:solidFill>
            <a:srgbClr val="2126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14984"/>
            <a:ext cx="8412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Tuesday   10:00–14:00 local 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Wednesday 10:00–14:00 local 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 Thursday  only if hotfix is truly critical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Friday    afternoon — avoid entirely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Holiday eve — avoid entirely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267919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6032" y="3108960"/>
            <a:ext cx="86868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business days available to respond to incidents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weekend emergency on-call burnout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pressure to skip post-deployment validation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Use Environment Variables for Config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96012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hardcode org-specific values inside metadata.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6032" y="1389888"/>
            <a:ext cx="8686800" cy="1298448"/>
          </a:xfrm>
          <a:prstGeom prst="rect">
            <a:avLst/>
          </a:prstGeom>
          <a:solidFill>
            <a:srgbClr val="2126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444752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 Variable: PARTNER_API_URL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org  : https://api-sandbox.partner.com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QA org   : https://api-qa.partner.com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 org : https://api.partner.com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" y="285292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Apex: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56032" y="3282696"/>
            <a:ext cx="868680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333756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url = System.Label.PARTNER_API_URL;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" y="397764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User Story deploys cleanly across all orgs — no code changes needed.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Tag Releases with Milestones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686800" cy="2066544"/>
          </a:xfrm>
          <a:prstGeom prst="rect">
            <a:avLst/>
          </a:prstGeom>
          <a:solidFill>
            <a:srgbClr val="2126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14984"/>
            <a:ext cx="841248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Release: "Spring '25 — Wave 1"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Milestone: Core Platform (due Mar 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US-101 Custom Lead Scoring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US-102 Opportunity Kanban View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Milestone: Integrations (due Mar 8)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US-110 DocuSign Envelope Trigger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US-112 Jira Auto-Sync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319125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6032" y="3621024"/>
            <a:ext cx="86868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an entire feature set as a unit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scope and progress to stakeholders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cross-team delivery timelines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Git Practices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4572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6012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Git repo is the backbone of a healthy Copado implementation.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56032" y="1472184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Trunk-based branching model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56032" y="1901952"/>
            <a:ext cx="8686800" cy="1810512"/>
          </a:xfrm>
          <a:prstGeom prst="rect">
            <a:avLst/>
          </a:prstGeom>
          <a:solidFill>
            <a:srgbClr val="2126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956816"/>
            <a:ext cx="84124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                        ← Production baseline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integration/dev          ← Dev environment branch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feature/US-042       ← Lives ≤ 1 sprint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feature/US-043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integration/qa           ← QA environment branch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integration/uat          ← UAT environment branch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" y="387705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branches live only as long as the User Story they represent.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6032" y="4306824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 feature branches = drift = painful merges.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Always Retrieve Before You Commit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686800" cy="1298448"/>
          </a:xfrm>
          <a:prstGeom prst="rect">
            <a:avLst/>
          </a:prstGeom>
          <a:solidFill>
            <a:srgbClr val="2126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14984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1: Make changes in Dev sandbox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Click "Retrieve Changes" in Copado   ← never skip this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3: Review diff — confirm only your changes appear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4: Commit to Git branch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2423160"/>
            <a:ext cx="4572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4231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Skipping Step 2 is the single most common cause of "phantom changes" appearing in deployments — changes that nobody remembers making.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Monthly Git Hygiene Checklist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686800" cy="1554480"/>
          </a:xfrm>
          <a:prstGeom prst="rect">
            <a:avLst/>
          </a:prstGeom>
          <a:solidFill>
            <a:srgbClr val="2126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14984"/>
            <a:ext cx="8412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□ Delete merged feature branches older than 30 days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□ Run a full Git Snapshot on Production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□ Verify integration branches are up-to-date with main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□ Review and close abandoned User Stories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□ Confirm branch naming conventions are followed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267919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monthly, 30 minutes, assigned to a single owner.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Meaningful Commit Messages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96012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6032" y="1389888"/>
            <a:ext cx="8686800" cy="1042416"/>
          </a:xfrm>
          <a:prstGeom prst="rect">
            <a:avLst/>
          </a:prstGeom>
          <a:solidFill>
            <a:srgbClr val="2126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444752"/>
            <a:ext cx="8412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feat(US-042): Add Renewal Date field to Contract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fix(US-047):  Correct validation rule on Opportunity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chore(US-050): Remove deprecated workflow rule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" y="259689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Bad: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56032" y="3026664"/>
            <a:ext cx="8686800" cy="1042416"/>
          </a:xfrm>
          <a:prstGeom prst="rect">
            <a:avLst/>
          </a:prstGeom>
          <a:solidFill>
            <a:srgbClr val="2126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3081528"/>
            <a:ext cx="8412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"fixed stuff"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"WIP"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"asdf"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" y="423367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breaks at 2am, a clear commit history 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6032" y="466344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path to understanding what changed and when.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Testing &amp; Code Quality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4572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6012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is always cheaper than firefighting.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56032" y="1472184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testing pyramid for Salesforce + Copado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56032" y="1901952"/>
            <a:ext cx="8686800" cy="1298448"/>
          </a:xfrm>
          <a:prstGeom prst="rect">
            <a:avLst/>
          </a:prstGeom>
          <a:solidFill>
            <a:srgbClr val="2126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956816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Manual UAT sign-off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▲▲▲ Copado Robotic E2E tests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▲▲▲▲▲ Apex unit &amp; integration tests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▲▲▲▲▲▲▲ PMD static code analysis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" y="336499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catches a different class of defect.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6032" y="37947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a layer just shifts where defects are discovered — always later and always more expensively.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Enforce Code Coverage Minimums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686800" cy="1554480"/>
          </a:xfrm>
          <a:prstGeom prst="rect">
            <a:avLst/>
          </a:prstGeom>
          <a:solidFill>
            <a:srgbClr val="2126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14984"/>
            <a:ext cx="8412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 Gate config: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  : Apex Code Coverage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Operator: Greater than or equal 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  : 80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Fail : Block promotion, notify developer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267919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monitoring: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6032" y="3108960"/>
            <a:ext cx="86868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coverage drops &gt; 5% week-over-week → alert #dev-leads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let coverage degrade silently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a leading indicator of technical debt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Zero Tolerance for Critical PMD Violations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686800" cy="2066544"/>
          </a:xfrm>
          <a:prstGeom prst="rect">
            <a:avLst/>
          </a:prstGeom>
          <a:solidFill>
            <a:srgbClr val="2126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14984"/>
            <a:ext cx="841248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PMD scan result on AccountService.cls: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[CRITICAL] Line 42: SOQL query inside a for loop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Rule: AvoidSoqlInLoops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[MEDIUM]   Line 78: Empty catch block detected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Rule: EmptyCatchBlock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result: ❌ BLOCKED — 1 Critical violation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move SOQL outside loop, re-promote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3191256"/>
            <a:ext cx="86868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→ always blocks promotion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→ warning only (configurable per stage)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can be lenient; Production must be strict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Automate E2E Tests with Robotic Testing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686800" cy="2322576"/>
          </a:xfrm>
          <a:prstGeom prst="rect">
            <a:avLst/>
          </a:prstGeom>
          <a:solidFill>
            <a:srgbClr val="2126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14984"/>
            <a:ext cx="841248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Suite: Opportunity E2E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1: Navigate to /lightning/o/Opportunity/new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Assert modal title = "New Opportunity"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3: Fill Name = "Test Deal Q1"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4: Select Stage = "Prospecting"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5: Click Save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6: Assert record created successfully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failure: ❌ block promotion + link back to User Story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344728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automatically on every promotion to UAT.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6032" y="387705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tests are the safety net that static analysis cannot provide.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Governance &amp; Compliance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4572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6012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that is auditable by default.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56032" y="1472184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Copado provides natively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56032" y="190195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Feature | Benefit |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6032" y="233172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|---|---|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6032" y="276148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Deployment history | Full log of who deployed what and when |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6032" y="319125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Approval workflows | Enforced sign-off chain, not just policy |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6032" y="3621024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Audit trail | Native Salesforce object — no extra infrastructure |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6032" y="405079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Separation of duties | Configurable in Copado Approvals |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6032" y="44805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Compliance reports | Export to PDF/CSV for auditors |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Document Deployment Steps as Runbooks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686800" cy="1554480"/>
          </a:xfrm>
          <a:prstGeom prst="rect">
            <a:avLst/>
          </a:prstGeom>
          <a:solidFill>
            <a:srgbClr val="2126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14984"/>
            <a:ext cx="8412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 Task: "Post-Deploy Data Load"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□ Export Account records from QA (report: Acct_Backup)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□ Run DataLoader import on Production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□ Verify record count matches QA (expected: 1,240)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□ Notify #salesforce-ops channel when complete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267919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Deployment Task checklists become your runbook automatically.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6032" y="31089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wiki page. No "I thought someone else did that."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Configure Roles and Permissions Correctly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686800" cy="1554480"/>
          </a:xfrm>
          <a:prstGeom prst="rect">
            <a:avLst/>
          </a:prstGeom>
          <a:solidFill>
            <a:srgbClr val="2126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14984"/>
            <a:ext cx="8412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Sarah (Admin)   → Configure pipelines, manage Git settings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James (Dev)     → Create stories, commit, promote Dev/QA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Lisa (Rel Mgr)  → Promote to UAT and Production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 (Read Only) → View history and logs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 credentials: OAuth only — no plain-text passwords stored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267919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give everyone Copado Admin "just for convenience."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6032" y="31089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access is the first line of defence against accidental Production changes.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Multi-Org All-or-Nothing Releases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686800" cy="1810512"/>
          </a:xfrm>
          <a:prstGeom prst="rect">
            <a:avLst/>
          </a:prstGeom>
          <a:solidFill>
            <a:srgbClr val="2126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14984"/>
            <a:ext cx="84124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Release: Spring '25 — Wave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A: Sales Cloud NA → UAT 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B: Sales Cloud EU → UAT 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C: Service Cloud  → UAT 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 Gate: All 3 pipelines at UAT?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Yes: proceed to coordinated Production deploy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2935224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releases that break cross-org integrations are the worst outcome.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6032" y="336499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Copado Release records to coordinate the all-or-nothing gate.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Team Culture &amp; Collaboration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4572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6012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pipelines fail when teams do not support them.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56032" y="1472184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factors that matter most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56032" y="190195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Factor | Practice |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6032" y="233172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|---|---|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6032" y="276148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Git knowledge | Train every developer on Git fundamentals |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6032" y="319125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Visibility | Wire Slack &amp; Jira notifications to Copado events |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6032" y="3621024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Metrics | Weekly 15-min pipeline health review |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6032" y="405079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Conflict prevention | Flag shared metadata in daily standups |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6032" y="44805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Psychological safety | Blameless post-mortems on deployment failures |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Train Teams on Git Fundamentals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96012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Git literacy for every Copado developer: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6032" y="1389888"/>
            <a:ext cx="8686800" cy="1554480"/>
          </a:xfrm>
          <a:prstGeom prst="rect">
            <a:avLst/>
          </a:prstGeom>
          <a:solidFill>
            <a:srgbClr val="2126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444752"/>
            <a:ext cx="8412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□ What is a branch and why it matters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□ How to read a diff and understand a conflict marker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□ git log, git status — reading history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□ What "rebase vs merge" means in plain English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□ How to recover from a bad commit with git revert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" y="31089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Copado abstracts Git — but not completely.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6032" y="353872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 who doesn't understand Git will create conflicts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6032" y="396849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Copado's UI cannot save them from.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Wire Slack and Jira Notifications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686800" cy="2066544"/>
          </a:xfrm>
          <a:prstGeom prst="rect">
            <a:avLst/>
          </a:prstGeom>
          <a:solidFill>
            <a:srgbClr val="2126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14984"/>
            <a:ext cx="841248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🚀 Copado Deployment — Production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: Sales Cloud Release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Stories  : US-105, US-112, US-118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  : ✅ Success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 : 4m 22s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      : Lisa Chen (Release Manager)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Jira: linked tickets auto-transition to "Done"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319125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"did it deploy yet?" messages in Slack.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6032" y="3621024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tells the team — the team doesn't have to ask.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Weekly Pipeline Health Review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96012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minutes. Same time every week. Three questions: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6032" y="138988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frequency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6032" y="199339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shipping small changes often, or batching large risky releases?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6032" y="242316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failure rate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" y="3026664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Quality Gates fire most? That's where to invest in developer enablement.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6032" y="345643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restore (MTTR)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032" y="405993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incidents occur, how quickly do we detect and roll back?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56032" y="4489704"/>
            <a:ext cx="4572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4489704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gets measured gets managed."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Advanced Patterns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4572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6012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teams who have mastered the basics.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56032" y="1472184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pipelines with Copado Functions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56032" y="1901952"/>
            <a:ext cx="8686800" cy="2066544"/>
          </a:xfrm>
          <a:prstGeom prst="rect">
            <a:avLst/>
          </a:prstGeom>
          <a:solidFill>
            <a:srgbClr val="2126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956816"/>
            <a:ext cx="841248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run(context):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stories = context.get("userStories")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story in stories: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= jira_api.get_status(story["jiraKey"])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status != "Approved":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{"success": False, "message": f"{story['jiraKey']} not approved"}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{"success": True}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" y="413308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custom logic — Jira validation, security checks, data migration scripts —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6032" y="456285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a first-class pipeline citizen with full result reporting back to Copado.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Leverage Copado AI for Risk Prediction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686800" cy="2322576"/>
          </a:xfrm>
          <a:prstGeom prst="rect">
            <a:avLst/>
          </a:prstGeom>
          <a:solidFill>
            <a:srgbClr val="2126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14984"/>
            <a:ext cx="841248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Story: "Allow Sales reps to clone Opportunities with Products"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AI-Generated Test Cases: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TC-01: Clone Opp without Products → verify empty clone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TC-02: Clone Opp with 5 Products  → verify all copied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TC-03: Clone closed/won Opp       → verify stage resets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TC-04: Clone as non-owner         → verify sharing rules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Prediction: MEDIUM RISK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Reason: Opportunity trigger touched by 3 other active stories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344728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risk scores to prioritize testing effort and make informed go/no-go decisions.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Integrate via Copado REST API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686800" cy="2578608"/>
          </a:xfrm>
          <a:prstGeom prst="rect">
            <a:avLst/>
          </a:prstGeom>
          <a:solidFill>
            <a:srgbClr val="2126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14984"/>
            <a:ext cx="8412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/services/apexrest/copado/v1/promote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{session_token}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"userStoryId": "a0B5g000001XkLm",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"targetEnvironment": "QA",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"runTests": true,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"notifySlack":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370332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promotions from GitHub Actions, Jenkins, or any external system.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6032" y="413308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CI/CD automation — not limited to Salesforce-native tooling.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Adopt 2nd-Gen Packaging (2GP)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686800" cy="3858768"/>
          </a:xfrm>
          <a:prstGeom prst="rect">
            <a:avLst/>
          </a:prstGeom>
          <a:solidFill>
            <a:srgbClr val="2126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14984"/>
            <a:ext cx="8412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"packageDirectories":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"package": "FinanceCore",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"versionNumber": "2.4.0.NEXT"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"package": "FinanceReports",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"dependencies":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"package": "FinanceCore", "versionNumber": "2.4.0.1"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Quick Reference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96012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 vs Best Practice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56032" y="138988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Practice area | ✗ Anti-pattern | ✓ Best Practice | Impact |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56032" y="181965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|---|---|---|---|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6032" y="2249424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User Story sizing | "Q4 Improvements" (50+ items) | One story per logical change | 🔴 High |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6032" y="267919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Metadata commit | Commit without retrieving first | Always retrieve before committing | 🔴 High |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6032" y="31089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Deploy timing | Friday afternoon deployments | Tue–Wed 10:00–14:00 windows | 🟡 Medium |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6032" y="353872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Org config | Hardcoded URLs in metadata | Copado Environment Variables | 🟡 Medium |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6032" y="396849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Code coverage | Allow deployments below 75% | Gate at ≥80%, alert on trend | 🔴 High |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6032" y="4398264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Git hygiene | Never delete old branches | Monthly cleanup + Git Snapshot | 🟢 Low |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The 12 Rules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960120"/>
            <a:ext cx="8686800" cy="381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the single source of truth — no side-door changes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 are non-negotiable — no bypass without documentation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Story, one logical change — keep them small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retrieve before you commit — never skip this step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Production with layered gates — PMD → Apex → E2E → Approval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deploy on Fridays — or holiday eves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Environment Variables — never hardcode org-specific values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code coverage minimums — gate at ≥80%, watch the trend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tolerance for critical PMD violations — fix before promoting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duties — the writer must not be the approver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your team on Git fundamentals — Copado can't save Git-illiterate developers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and review pipeline health — weekly, three metrics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96012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Resource | Link |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6032" y="138988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|---|---|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56032" y="181965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Complete Copado Guide | guide-v2.html |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6032" y="2249424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Architecture Reference | arch-v2.html |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6032" y="267919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Copado Documentation | docs.copado.com |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6032" y="31089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Salesforce DevOps Center | Trailhead |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Copado DevOps Best Practices · Field-tested guidance for Salesforce release management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Markdown Slides</dc:title>
  <dc:subject>Markdown Slides</dc:subject>
  <dc:creator>PptxGenJS</dc:creator>
  <cp:lastModifiedBy>PptxGenJS</cp:lastModifiedBy>
  <cp:revision>1</cp:revision>
  <dcterms:created xsi:type="dcterms:W3CDTF">2026-05-21T01:54:30Z</dcterms:created>
  <dcterms:modified xsi:type="dcterms:W3CDTF">2026-05-21T01:54:30Z</dcterms:modified>
</cp:coreProperties>
</file>